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A0AD5-1209-49C5-9EA7-5B5750001CF3}" v="31" dt="2024-11-22T05:52:18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3DE0F3-2E95-421D-A713-F1DC4A73DD03}" type="doc">
      <dgm:prSet loTypeId="urn:microsoft.com/office/officeart/2005/8/layout/cycle2" loCatId="cycle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F546BE-75B5-4131-A121-82A13BFCBE9F}">
      <dgm:prSet custT="1"/>
      <dgm:spPr/>
      <dgm:t>
        <a:bodyPr/>
        <a:lstStyle/>
        <a:p>
          <a:r>
            <a:rPr lang="en-US" sz="1400" dirty="0"/>
            <a:t>• Gender equality in the engineering workplace is vital for economic growth and inclusivity.</a:t>
          </a:r>
        </a:p>
      </dgm:t>
    </dgm:pt>
    <dgm:pt modelId="{9467A3D3-803D-467C-86B1-E277B39B0034}" type="parTrans" cxnId="{DB9E5329-E8F8-4BC1-97A4-730ACABF00AB}">
      <dgm:prSet/>
      <dgm:spPr/>
      <dgm:t>
        <a:bodyPr/>
        <a:lstStyle/>
        <a:p>
          <a:endParaRPr lang="en-US"/>
        </a:p>
      </dgm:t>
    </dgm:pt>
    <dgm:pt modelId="{4A924D66-63DA-41EB-9647-8F39F70D337E}" type="sibTrans" cxnId="{DB9E5329-E8F8-4BC1-97A4-730ACABF00AB}">
      <dgm:prSet/>
      <dgm:spPr/>
      <dgm:t>
        <a:bodyPr/>
        <a:lstStyle/>
        <a:p>
          <a:endParaRPr lang="en-US"/>
        </a:p>
      </dgm:t>
    </dgm:pt>
    <dgm:pt modelId="{4208E6D3-BF60-4DF0-BB7C-842395A99F68}">
      <dgm:prSet custT="1"/>
      <dgm:spPr/>
      <dgm:t>
        <a:bodyPr/>
        <a:lstStyle/>
        <a:p>
          <a:r>
            <a:rPr lang="en-US" sz="1200" dirty="0"/>
            <a:t>• This analysis focuses on the engineering sector, a traditionally male-dominated field.</a:t>
          </a:r>
        </a:p>
      </dgm:t>
    </dgm:pt>
    <dgm:pt modelId="{48FEB0C2-22A7-43E3-8618-012E2D4652B4}" type="parTrans" cxnId="{A6F056AF-F11B-40B8-942A-D20E44CC4D25}">
      <dgm:prSet/>
      <dgm:spPr/>
      <dgm:t>
        <a:bodyPr/>
        <a:lstStyle/>
        <a:p>
          <a:endParaRPr lang="en-US"/>
        </a:p>
      </dgm:t>
    </dgm:pt>
    <dgm:pt modelId="{3B1B41CD-2A8F-4BE2-8E95-ED5CE536163B}" type="sibTrans" cxnId="{A6F056AF-F11B-40B8-942A-D20E44CC4D25}">
      <dgm:prSet/>
      <dgm:spPr/>
      <dgm:t>
        <a:bodyPr/>
        <a:lstStyle/>
        <a:p>
          <a:endParaRPr lang="en-US"/>
        </a:p>
      </dgm:t>
    </dgm:pt>
    <dgm:pt modelId="{2A2D4CD9-BA0E-4B12-88CF-AE135A9DB2E1}">
      <dgm:prSet custT="1"/>
      <dgm:spPr/>
      <dgm:t>
        <a:bodyPr/>
        <a:lstStyle/>
        <a:p>
          <a:r>
            <a:rPr lang="en-US" sz="1200" dirty="0"/>
            <a:t>• Key focus: similarities, differences, and recommendations for improvement.</a:t>
          </a:r>
        </a:p>
      </dgm:t>
    </dgm:pt>
    <dgm:pt modelId="{03421A90-52F5-4D1F-BF92-C262C785AC9C}" type="parTrans" cxnId="{E979D515-EA93-491A-A20B-FE41CA818F89}">
      <dgm:prSet/>
      <dgm:spPr/>
      <dgm:t>
        <a:bodyPr/>
        <a:lstStyle/>
        <a:p>
          <a:endParaRPr lang="en-US"/>
        </a:p>
      </dgm:t>
    </dgm:pt>
    <dgm:pt modelId="{5DA3BF9D-7DCF-4E83-985E-685F3842C275}" type="sibTrans" cxnId="{E979D515-EA93-491A-A20B-FE41CA818F89}">
      <dgm:prSet/>
      <dgm:spPr/>
      <dgm:t>
        <a:bodyPr/>
        <a:lstStyle/>
        <a:p>
          <a:endParaRPr lang="en-US"/>
        </a:p>
      </dgm:t>
    </dgm:pt>
    <dgm:pt modelId="{21EB0067-2BE2-494C-9F0D-DE38AD778F0F}" type="pres">
      <dgm:prSet presAssocID="{263DE0F3-2E95-421D-A713-F1DC4A73DD03}" presName="cycle" presStyleCnt="0">
        <dgm:presLayoutVars>
          <dgm:dir/>
          <dgm:resizeHandles val="exact"/>
        </dgm:presLayoutVars>
      </dgm:prSet>
      <dgm:spPr/>
    </dgm:pt>
    <dgm:pt modelId="{888B7FBF-B029-40A3-BBF7-C0B3042E13B4}" type="pres">
      <dgm:prSet presAssocID="{1AF546BE-75B5-4131-A121-82A13BFCBE9F}" presName="node" presStyleLbl="node1" presStyleIdx="0" presStyleCnt="3" custRadScaleRad="99589" custRadScaleInc="-1218">
        <dgm:presLayoutVars>
          <dgm:bulletEnabled val="1"/>
        </dgm:presLayoutVars>
      </dgm:prSet>
      <dgm:spPr/>
    </dgm:pt>
    <dgm:pt modelId="{B2092621-EEE4-45FB-90C1-BDEC7CDE49C9}" type="pres">
      <dgm:prSet presAssocID="{4A924D66-63DA-41EB-9647-8F39F70D337E}" presName="sibTrans" presStyleLbl="sibTrans2D1" presStyleIdx="0" presStyleCnt="3"/>
      <dgm:spPr/>
    </dgm:pt>
    <dgm:pt modelId="{E85E2171-A7FA-4ABF-B3D4-8B935CB2660E}" type="pres">
      <dgm:prSet presAssocID="{4A924D66-63DA-41EB-9647-8F39F70D337E}" presName="connectorText" presStyleLbl="sibTrans2D1" presStyleIdx="0" presStyleCnt="3"/>
      <dgm:spPr/>
    </dgm:pt>
    <dgm:pt modelId="{381D58DB-B2D5-4311-B74D-F07D0D19F9B6}" type="pres">
      <dgm:prSet presAssocID="{4208E6D3-BF60-4DF0-BB7C-842395A99F68}" presName="node" presStyleLbl="node1" presStyleIdx="1" presStyleCnt="3">
        <dgm:presLayoutVars>
          <dgm:bulletEnabled val="1"/>
        </dgm:presLayoutVars>
      </dgm:prSet>
      <dgm:spPr/>
    </dgm:pt>
    <dgm:pt modelId="{CB7D4180-27FB-4791-8C83-6805111D5BEB}" type="pres">
      <dgm:prSet presAssocID="{3B1B41CD-2A8F-4BE2-8E95-ED5CE536163B}" presName="sibTrans" presStyleLbl="sibTrans2D1" presStyleIdx="1" presStyleCnt="3"/>
      <dgm:spPr/>
    </dgm:pt>
    <dgm:pt modelId="{2759A093-5E6F-416C-9E53-E2CC0A32538B}" type="pres">
      <dgm:prSet presAssocID="{3B1B41CD-2A8F-4BE2-8E95-ED5CE536163B}" presName="connectorText" presStyleLbl="sibTrans2D1" presStyleIdx="1" presStyleCnt="3"/>
      <dgm:spPr/>
    </dgm:pt>
    <dgm:pt modelId="{934B8CF0-A537-4FC6-8443-1ACDF1DE9BD3}" type="pres">
      <dgm:prSet presAssocID="{2A2D4CD9-BA0E-4B12-88CF-AE135A9DB2E1}" presName="node" presStyleLbl="node1" presStyleIdx="2" presStyleCnt="3">
        <dgm:presLayoutVars>
          <dgm:bulletEnabled val="1"/>
        </dgm:presLayoutVars>
      </dgm:prSet>
      <dgm:spPr/>
    </dgm:pt>
    <dgm:pt modelId="{0A3DFF3E-B4F8-4F23-919B-8BF8451FC542}" type="pres">
      <dgm:prSet presAssocID="{5DA3BF9D-7DCF-4E83-985E-685F3842C275}" presName="sibTrans" presStyleLbl="sibTrans2D1" presStyleIdx="2" presStyleCnt="3"/>
      <dgm:spPr/>
    </dgm:pt>
    <dgm:pt modelId="{EC73B326-CA8B-4ABE-933A-5545649DDA16}" type="pres">
      <dgm:prSet presAssocID="{5DA3BF9D-7DCF-4E83-985E-685F3842C275}" presName="connectorText" presStyleLbl="sibTrans2D1" presStyleIdx="2" presStyleCnt="3"/>
      <dgm:spPr/>
    </dgm:pt>
  </dgm:ptLst>
  <dgm:cxnLst>
    <dgm:cxn modelId="{E979D515-EA93-491A-A20B-FE41CA818F89}" srcId="{263DE0F3-2E95-421D-A713-F1DC4A73DD03}" destId="{2A2D4CD9-BA0E-4B12-88CF-AE135A9DB2E1}" srcOrd="2" destOrd="0" parTransId="{03421A90-52F5-4D1F-BF92-C262C785AC9C}" sibTransId="{5DA3BF9D-7DCF-4E83-985E-685F3842C275}"/>
    <dgm:cxn modelId="{CB46FE1A-7064-4F22-999F-40BEF7F36ED5}" type="presOf" srcId="{3B1B41CD-2A8F-4BE2-8E95-ED5CE536163B}" destId="{2759A093-5E6F-416C-9E53-E2CC0A32538B}" srcOrd="1" destOrd="0" presId="urn:microsoft.com/office/officeart/2005/8/layout/cycle2"/>
    <dgm:cxn modelId="{34A0B51E-BF6C-4A47-AE1C-8748A288A0DC}" type="presOf" srcId="{1AF546BE-75B5-4131-A121-82A13BFCBE9F}" destId="{888B7FBF-B029-40A3-BBF7-C0B3042E13B4}" srcOrd="0" destOrd="0" presId="urn:microsoft.com/office/officeart/2005/8/layout/cycle2"/>
    <dgm:cxn modelId="{1920D525-D1F4-4A41-A6B4-B0A3BABA4EFD}" type="presOf" srcId="{3B1B41CD-2A8F-4BE2-8E95-ED5CE536163B}" destId="{CB7D4180-27FB-4791-8C83-6805111D5BEB}" srcOrd="0" destOrd="0" presId="urn:microsoft.com/office/officeart/2005/8/layout/cycle2"/>
    <dgm:cxn modelId="{6FACE725-4F83-4B73-BC01-8C51D92912C8}" type="presOf" srcId="{4A924D66-63DA-41EB-9647-8F39F70D337E}" destId="{E85E2171-A7FA-4ABF-B3D4-8B935CB2660E}" srcOrd="1" destOrd="0" presId="urn:microsoft.com/office/officeart/2005/8/layout/cycle2"/>
    <dgm:cxn modelId="{DB9E5329-E8F8-4BC1-97A4-730ACABF00AB}" srcId="{263DE0F3-2E95-421D-A713-F1DC4A73DD03}" destId="{1AF546BE-75B5-4131-A121-82A13BFCBE9F}" srcOrd="0" destOrd="0" parTransId="{9467A3D3-803D-467C-86B1-E277B39B0034}" sibTransId="{4A924D66-63DA-41EB-9647-8F39F70D337E}"/>
    <dgm:cxn modelId="{75373D69-9D34-4E36-A9DC-DE6BD462B7B7}" type="presOf" srcId="{263DE0F3-2E95-421D-A713-F1DC4A73DD03}" destId="{21EB0067-2BE2-494C-9F0D-DE38AD778F0F}" srcOrd="0" destOrd="0" presId="urn:microsoft.com/office/officeart/2005/8/layout/cycle2"/>
    <dgm:cxn modelId="{69CC3E6C-4B94-4DD5-96CE-6578A604961B}" type="presOf" srcId="{4208E6D3-BF60-4DF0-BB7C-842395A99F68}" destId="{381D58DB-B2D5-4311-B74D-F07D0D19F9B6}" srcOrd="0" destOrd="0" presId="urn:microsoft.com/office/officeart/2005/8/layout/cycle2"/>
    <dgm:cxn modelId="{11E45452-9D5F-451B-9B0A-A63BCA7A797F}" type="presOf" srcId="{4A924D66-63DA-41EB-9647-8F39F70D337E}" destId="{B2092621-EEE4-45FB-90C1-BDEC7CDE49C9}" srcOrd="0" destOrd="0" presId="urn:microsoft.com/office/officeart/2005/8/layout/cycle2"/>
    <dgm:cxn modelId="{80CF878D-328C-4F99-8511-87780A6BC2A8}" type="presOf" srcId="{5DA3BF9D-7DCF-4E83-985E-685F3842C275}" destId="{EC73B326-CA8B-4ABE-933A-5545649DDA16}" srcOrd="1" destOrd="0" presId="urn:microsoft.com/office/officeart/2005/8/layout/cycle2"/>
    <dgm:cxn modelId="{A6F056AF-F11B-40B8-942A-D20E44CC4D25}" srcId="{263DE0F3-2E95-421D-A713-F1DC4A73DD03}" destId="{4208E6D3-BF60-4DF0-BB7C-842395A99F68}" srcOrd="1" destOrd="0" parTransId="{48FEB0C2-22A7-43E3-8618-012E2D4652B4}" sibTransId="{3B1B41CD-2A8F-4BE2-8E95-ED5CE536163B}"/>
    <dgm:cxn modelId="{C19359B0-7A32-4BC4-8ED9-23A009B6B426}" type="presOf" srcId="{2A2D4CD9-BA0E-4B12-88CF-AE135A9DB2E1}" destId="{934B8CF0-A537-4FC6-8443-1ACDF1DE9BD3}" srcOrd="0" destOrd="0" presId="urn:microsoft.com/office/officeart/2005/8/layout/cycle2"/>
    <dgm:cxn modelId="{1C6A52F6-32C2-4228-A881-48570DC6C77A}" type="presOf" srcId="{5DA3BF9D-7DCF-4E83-985E-685F3842C275}" destId="{0A3DFF3E-B4F8-4F23-919B-8BF8451FC542}" srcOrd="0" destOrd="0" presId="urn:microsoft.com/office/officeart/2005/8/layout/cycle2"/>
    <dgm:cxn modelId="{30CD6FD2-ADC0-43E8-B2C5-B7D758DFE5C0}" type="presParOf" srcId="{21EB0067-2BE2-494C-9F0D-DE38AD778F0F}" destId="{888B7FBF-B029-40A3-BBF7-C0B3042E13B4}" srcOrd="0" destOrd="0" presId="urn:microsoft.com/office/officeart/2005/8/layout/cycle2"/>
    <dgm:cxn modelId="{CFA1E9B7-A6B5-42CE-B96B-9F581000B0D0}" type="presParOf" srcId="{21EB0067-2BE2-494C-9F0D-DE38AD778F0F}" destId="{B2092621-EEE4-45FB-90C1-BDEC7CDE49C9}" srcOrd="1" destOrd="0" presId="urn:microsoft.com/office/officeart/2005/8/layout/cycle2"/>
    <dgm:cxn modelId="{9729B93F-0CDF-4C22-AE67-8E5A355CE350}" type="presParOf" srcId="{B2092621-EEE4-45FB-90C1-BDEC7CDE49C9}" destId="{E85E2171-A7FA-4ABF-B3D4-8B935CB2660E}" srcOrd="0" destOrd="0" presId="urn:microsoft.com/office/officeart/2005/8/layout/cycle2"/>
    <dgm:cxn modelId="{477044C1-BF93-4FD6-B9BC-B9223D37C50E}" type="presParOf" srcId="{21EB0067-2BE2-494C-9F0D-DE38AD778F0F}" destId="{381D58DB-B2D5-4311-B74D-F07D0D19F9B6}" srcOrd="2" destOrd="0" presId="urn:microsoft.com/office/officeart/2005/8/layout/cycle2"/>
    <dgm:cxn modelId="{7BA2A32E-C901-479E-8F83-6F90607DC596}" type="presParOf" srcId="{21EB0067-2BE2-494C-9F0D-DE38AD778F0F}" destId="{CB7D4180-27FB-4791-8C83-6805111D5BEB}" srcOrd="3" destOrd="0" presId="urn:microsoft.com/office/officeart/2005/8/layout/cycle2"/>
    <dgm:cxn modelId="{E05AEF75-5629-4430-A65C-5475D9DC8575}" type="presParOf" srcId="{CB7D4180-27FB-4791-8C83-6805111D5BEB}" destId="{2759A093-5E6F-416C-9E53-E2CC0A32538B}" srcOrd="0" destOrd="0" presId="urn:microsoft.com/office/officeart/2005/8/layout/cycle2"/>
    <dgm:cxn modelId="{DA5A3394-C053-48D0-822C-A0C5F1042B88}" type="presParOf" srcId="{21EB0067-2BE2-494C-9F0D-DE38AD778F0F}" destId="{934B8CF0-A537-4FC6-8443-1ACDF1DE9BD3}" srcOrd="4" destOrd="0" presId="urn:microsoft.com/office/officeart/2005/8/layout/cycle2"/>
    <dgm:cxn modelId="{FD4AFE8A-BDC3-4D01-91FE-45815BF752FB}" type="presParOf" srcId="{21EB0067-2BE2-494C-9F0D-DE38AD778F0F}" destId="{0A3DFF3E-B4F8-4F23-919B-8BF8451FC542}" srcOrd="5" destOrd="0" presId="urn:microsoft.com/office/officeart/2005/8/layout/cycle2"/>
    <dgm:cxn modelId="{5C92D830-7877-490E-8D22-CB9C4CCFF1A3}" type="presParOf" srcId="{0A3DFF3E-B4F8-4F23-919B-8BF8451FC542}" destId="{EC73B326-CA8B-4ABE-933A-5545649DDA1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494A23-89E7-47FB-B7C0-506F7B7031A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3D43DA-AA02-4E69-854C-D52D1183E033}">
      <dgm:prSet/>
      <dgm:spPr/>
      <dgm:t>
        <a:bodyPr/>
        <a:lstStyle/>
        <a:p>
          <a:r>
            <a:rPr lang="en-US"/>
            <a:t>• Implement mandatory gender pay gap reporting for technical organizations.</a:t>
          </a:r>
        </a:p>
      </dgm:t>
    </dgm:pt>
    <dgm:pt modelId="{CBE9EDFA-1FFD-4D80-B194-F8B62902C792}" type="parTrans" cxnId="{4409CEEC-CFB0-4243-A4E2-379289640905}">
      <dgm:prSet/>
      <dgm:spPr/>
      <dgm:t>
        <a:bodyPr/>
        <a:lstStyle/>
        <a:p>
          <a:endParaRPr lang="en-US"/>
        </a:p>
      </dgm:t>
    </dgm:pt>
    <dgm:pt modelId="{4634FDA2-857F-487C-98E4-05C832BE1295}" type="sibTrans" cxnId="{4409CEEC-CFB0-4243-A4E2-379289640905}">
      <dgm:prSet/>
      <dgm:spPr/>
      <dgm:t>
        <a:bodyPr/>
        <a:lstStyle/>
        <a:p>
          <a:endParaRPr lang="en-US"/>
        </a:p>
      </dgm:t>
    </dgm:pt>
    <dgm:pt modelId="{CA1FCD3C-8955-4CD7-9578-FD2A2D7FB436}">
      <dgm:prSet/>
      <dgm:spPr/>
      <dgm:t>
        <a:bodyPr/>
        <a:lstStyle/>
        <a:p>
          <a:r>
            <a:rPr lang="en-US"/>
            <a:t>• Combine with mentorship programs for women in STEM fields.</a:t>
          </a:r>
        </a:p>
      </dgm:t>
    </dgm:pt>
    <dgm:pt modelId="{A378D191-BF76-4E2F-94E0-EC5225D3D9CE}" type="parTrans" cxnId="{9C3F9CA8-1FD9-4946-82BE-31952DFEDA2D}">
      <dgm:prSet/>
      <dgm:spPr/>
      <dgm:t>
        <a:bodyPr/>
        <a:lstStyle/>
        <a:p>
          <a:endParaRPr lang="en-US"/>
        </a:p>
      </dgm:t>
    </dgm:pt>
    <dgm:pt modelId="{41DA9BC3-4D45-4F08-BFFF-718E2A756A78}" type="sibTrans" cxnId="{9C3F9CA8-1FD9-4946-82BE-31952DFEDA2D}">
      <dgm:prSet/>
      <dgm:spPr/>
      <dgm:t>
        <a:bodyPr/>
        <a:lstStyle/>
        <a:p>
          <a:endParaRPr lang="en-US"/>
        </a:p>
      </dgm:t>
    </dgm:pt>
    <dgm:pt modelId="{4906933E-AC57-4CEA-A885-27D695CDE11C}">
      <dgm:prSet/>
      <dgm:spPr/>
      <dgm:t>
        <a:bodyPr/>
        <a:lstStyle/>
        <a:p>
          <a:r>
            <a:rPr lang="en-US"/>
            <a:t>• Encourage hiring targets to increase female participation in engineering roles.</a:t>
          </a:r>
        </a:p>
      </dgm:t>
    </dgm:pt>
    <dgm:pt modelId="{9FB6D77F-E01E-46E8-B25C-039CE51C53A1}" type="parTrans" cxnId="{C15E0EF9-C8AA-4399-BE03-5398335F45C7}">
      <dgm:prSet/>
      <dgm:spPr/>
      <dgm:t>
        <a:bodyPr/>
        <a:lstStyle/>
        <a:p>
          <a:endParaRPr lang="en-US"/>
        </a:p>
      </dgm:t>
    </dgm:pt>
    <dgm:pt modelId="{7DC790BA-51C5-42E6-AA3B-059D04C45CFD}" type="sibTrans" cxnId="{C15E0EF9-C8AA-4399-BE03-5398335F45C7}">
      <dgm:prSet/>
      <dgm:spPr/>
      <dgm:t>
        <a:bodyPr/>
        <a:lstStyle/>
        <a:p>
          <a:endParaRPr lang="en-US"/>
        </a:p>
      </dgm:t>
    </dgm:pt>
    <dgm:pt modelId="{4FEFFB26-CC21-45B4-89D1-785004A4C141}">
      <dgm:prSet/>
      <dgm:spPr/>
      <dgm:t>
        <a:bodyPr/>
        <a:lstStyle/>
        <a:p>
          <a:r>
            <a:rPr lang="en-US"/>
            <a:t>Outcome: A transparent and inclusive workplace fostering gender equality.</a:t>
          </a:r>
        </a:p>
      </dgm:t>
    </dgm:pt>
    <dgm:pt modelId="{99D67F31-FE16-41C1-A805-027EA7408562}" type="parTrans" cxnId="{4E1E7436-9289-4D89-85D1-D0D54ECA96D6}">
      <dgm:prSet/>
      <dgm:spPr/>
      <dgm:t>
        <a:bodyPr/>
        <a:lstStyle/>
        <a:p>
          <a:endParaRPr lang="en-US"/>
        </a:p>
      </dgm:t>
    </dgm:pt>
    <dgm:pt modelId="{6A0B9599-4FC1-43CF-84FD-7F03CD4064E4}" type="sibTrans" cxnId="{4E1E7436-9289-4D89-85D1-D0D54ECA96D6}">
      <dgm:prSet/>
      <dgm:spPr/>
      <dgm:t>
        <a:bodyPr/>
        <a:lstStyle/>
        <a:p>
          <a:endParaRPr lang="en-US"/>
        </a:p>
      </dgm:t>
    </dgm:pt>
    <dgm:pt modelId="{EE081F1F-9F7D-4E03-8387-5C06E535E347}" type="pres">
      <dgm:prSet presAssocID="{BA494A23-89E7-47FB-B7C0-506F7B7031AF}" presName="linear" presStyleCnt="0">
        <dgm:presLayoutVars>
          <dgm:animLvl val="lvl"/>
          <dgm:resizeHandles val="exact"/>
        </dgm:presLayoutVars>
      </dgm:prSet>
      <dgm:spPr/>
    </dgm:pt>
    <dgm:pt modelId="{14028E9F-83B5-474E-AF95-EDF74F768404}" type="pres">
      <dgm:prSet presAssocID="{683D43DA-AA02-4E69-854C-D52D1183E03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6F7988-5196-4D1A-A103-393D5A241009}" type="pres">
      <dgm:prSet presAssocID="{4634FDA2-857F-487C-98E4-05C832BE1295}" presName="spacer" presStyleCnt="0"/>
      <dgm:spPr/>
    </dgm:pt>
    <dgm:pt modelId="{ABFAC20A-4004-4015-9129-B1B0C8B0BE6B}" type="pres">
      <dgm:prSet presAssocID="{CA1FCD3C-8955-4CD7-9578-FD2A2D7FB4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F06C1A-6948-4FDD-B39E-6617DEE5625B}" type="pres">
      <dgm:prSet presAssocID="{41DA9BC3-4D45-4F08-BFFF-718E2A756A78}" presName="spacer" presStyleCnt="0"/>
      <dgm:spPr/>
    </dgm:pt>
    <dgm:pt modelId="{F579FDB9-62F5-49A7-A03C-6610E8616FBF}" type="pres">
      <dgm:prSet presAssocID="{4906933E-AC57-4CEA-A885-27D695CDE11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1BA58E1-7137-4828-AA70-C167D664EE61}" type="pres">
      <dgm:prSet presAssocID="{7DC790BA-51C5-42E6-AA3B-059D04C45CFD}" presName="spacer" presStyleCnt="0"/>
      <dgm:spPr/>
    </dgm:pt>
    <dgm:pt modelId="{EC916360-E2F0-477D-919D-C2E1ED559F70}" type="pres">
      <dgm:prSet presAssocID="{4FEFFB26-CC21-45B4-89D1-785004A4C1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8B90503-C574-40CE-94F8-5ECDB03EEC47}" type="presOf" srcId="{CA1FCD3C-8955-4CD7-9578-FD2A2D7FB436}" destId="{ABFAC20A-4004-4015-9129-B1B0C8B0BE6B}" srcOrd="0" destOrd="0" presId="urn:microsoft.com/office/officeart/2005/8/layout/vList2"/>
    <dgm:cxn modelId="{4E1E7436-9289-4D89-85D1-D0D54ECA96D6}" srcId="{BA494A23-89E7-47FB-B7C0-506F7B7031AF}" destId="{4FEFFB26-CC21-45B4-89D1-785004A4C141}" srcOrd="3" destOrd="0" parTransId="{99D67F31-FE16-41C1-A805-027EA7408562}" sibTransId="{6A0B9599-4FC1-43CF-84FD-7F03CD4064E4}"/>
    <dgm:cxn modelId="{1ED69D50-6D6D-4EF9-9E6D-735224ADB2CC}" type="presOf" srcId="{4FEFFB26-CC21-45B4-89D1-785004A4C141}" destId="{EC916360-E2F0-477D-919D-C2E1ED559F70}" srcOrd="0" destOrd="0" presId="urn:microsoft.com/office/officeart/2005/8/layout/vList2"/>
    <dgm:cxn modelId="{FA84FE71-171E-4CBB-986C-D2E409698524}" type="presOf" srcId="{4906933E-AC57-4CEA-A885-27D695CDE11C}" destId="{F579FDB9-62F5-49A7-A03C-6610E8616FBF}" srcOrd="0" destOrd="0" presId="urn:microsoft.com/office/officeart/2005/8/layout/vList2"/>
    <dgm:cxn modelId="{9C3F9CA8-1FD9-4946-82BE-31952DFEDA2D}" srcId="{BA494A23-89E7-47FB-B7C0-506F7B7031AF}" destId="{CA1FCD3C-8955-4CD7-9578-FD2A2D7FB436}" srcOrd="1" destOrd="0" parTransId="{A378D191-BF76-4E2F-94E0-EC5225D3D9CE}" sibTransId="{41DA9BC3-4D45-4F08-BFFF-718E2A756A78}"/>
    <dgm:cxn modelId="{155BD0CB-59BB-41CE-AD31-608FC010DABC}" type="presOf" srcId="{683D43DA-AA02-4E69-854C-D52D1183E033}" destId="{14028E9F-83B5-474E-AF95-EDF74F768404}" srcOrd="0" destOrd="0" presId="urn:microsoft.com/office/officeart/2005/8/layout/vList2"/>
    <dgm:cxn modelId="{74C722D5-22F7-48CD-9317-084D9F17491B}" type="presOf" srcId="{BA494A23-89E7-47FB-B7C0-506F7B7031AF}" destId="{EE081F1F-9F7D-4E03-8387-5C06E535E347}" srcOrd="0" destOrd="0" presId="urn:microsoft.com/office/officeart/2005/8/layout/vList2"/>
    <dgm:cxn modelId="{4409CEEC-CFB0-4243-A4E2-379289640905}" srcId="{BA494A23-89E7-47FB-B7C0-506F7B7031AF}" destId="{683D43DA-AA02-4E69-854C-D52D1183E033}" srcOrd="0" destOrd="0" parTransId="{CBE9EDFA-1FFD-4D80-B194-F8B62902C792}" sibTransId="{4634FDA2-857F-487C-98E4-05C832BE1295}"/>
    <dgm:cxn modelId="{C15E0EF9-C8AA-4399-BE03-5398335F45C7}" srcId="{BA494A23-89E7-47FB-B7C0-506F7B7031AF}" destId="{4906933E-AC57-4CEA-A885-27D695CDE11C}" srcOrd="2" destOrd="0" parTransId="{9FB6D77F-E01E-46E8-B25C-039CE51C53A1}" sibTransId="{7DC790BA-51C5-42E6-AA3B-059D04C45CFD}"/>
    <dgm:cxn modelId="{8E44C6B5-990F-4088-A5B1-B69C59EA3CFD}" type="presParOf" srcId="{EE081F1F-9F7D-4E03-8387-5C06E535E347}" destId="{14028E9F-83B5-474E-AF95-EDF74F768404}" srcOrd="0" destOrd="0" presId="urn:microsoft.com/office/officeart/2005/8/layout/vList2"/>
    <dgm:cxn modelId="{4C7C56E5-8B48-4E1C-A584-1D3D9B3ECB31}" type="presParOf" srcId="{EE081F1F-9F7D-4E03-8387-5C06E535E347}" destId="{776F7988-5196-4D1A-A103-393D5A241009}" srcOrd="1" destOrd="0" presId="urn:microsoft.com/office/officeart/2005/8/layout/vList2"/>
    <dgm:cxn modelId="{C9305C7A-F3E1-490E-83B6-D5433294C98C}" type="presParOf" srcId="{EE081F1F-9F7D-4E03-8387-5C06E535E347}" destId="{ABFAC20A-4004-4015-9129-B1B0C8B0BE6B}" srcOrd="2" destOrd="0" presId="urn:microsoft.com/office/officeart/2005/8/layout/vList2"/>
    <dgm:cxn modelId="{76FA8D23-1D96-4BEA-8B17-DA1818054F95}" type="presParOf" srcId="{EE081F1F-9F7D-4E03-8387-5C06E535E347}" destId="{63F06C1A-6948-4FDD-B39E-6617DEE5625B}" srcOrd="3" destOrd="0" presId="urn:microsoft.com/office/officeart/2005/8/layout/vList2"/>
    <dgm:cxn modelId="{F91E4967-DC4A-486C-A6B5-E6FE1E65A539}" type="presParOf" srcId="{EE081F1F-9F7D-4E03-8387-5C06E535E347}" destId="{F579FDB9-62F5-49A7-A03C-6610E8616FBF}" srcOrd="4" destOrd="0" presId="urn:microsoft.com/office/officeart/2005/8/layout/vList2"/>
    <dgm:cxn modelId="{3569D632-B4B2-4FD6-9782-65C52E70532F}" type="presParOf" srcId="{EE081F1F-9F7D-4E03-8387-5C06E535E347}" destId="{21BA58E1-7137-4828-AA70-C167D664EE61}" srcOrd="5" destOrd="0" presId="urn:microsoft.com/office/officeart/2005/8/layout/vList2"/>
    <dgm:cxn modelId="{DDC86104-CBA9-41D1-8405-763969F45419}" type="presParOf" srcId="{EE081F1F-9F7D-4E03-8387-5C06E535E347}" destId="{EC916360-E2F0-477D-919D-C2E1ED559F7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B7FBF-B029-40A3-BBF7-C0B3042E13B4}">
      <dsp:nvSpPr>
        <dsp:cNvPr id="0" name=""/>
        <dsp:cNvSpPr/>
      </dsp:nvSpPr>
      <dsp:spPr>
        <a:xfrm>
          <a:off x="2576541" y="6858"/>
          <a:ext cx="1610005" cy="161000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Gender equality in the engineering workplace is vital for economic growth and inclusivity.</a:t>
          </a:r>
        </a:p>
      </dsp:txBody>
      <dsp:txXfrm>
        <a:off x="2812321" y="242638"/>
        <a:ext cx="1138445" cy="1138445"/>
      </dsp:txXfrm>
    </dsp:sp>
    <dsp:sp modelId="{B2092621-EEE4-45FB-90C1-BDEC7CDE49C9}">
      <dsp:nvSpPr>
        <dsp:cNvPr id="0" name=""/>
        <dsp:cNvSpPr/>
      </dsp:nvSpPr>
      <dsp:spPr>
        <a:xfrm rot="3574049">
          <a:off x="3773617" y="1573356"/>
          <a:ext cx="429761" cy="5433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3805428" y="1626448"/>
        <a:ext cx="300833" cy="326026"/>
      </dsp:txXfrm>
    </dsp:sp>
    <dsp:sp modelId="{381D58DB-B2D5-4311-B74D-F07D0D19F9B6}">
      <dsp:nvSpPr>
        <dsp:cNvPr id="0" name=""/>
        <dsp:cNvSpPr/>
      </dsp:nvSpPr>
      <dsp:spPr>
        <a:xfrm>
          <a:off x="3802771" y="2094201"/>
          <a:ext cx="1610005" cy="1610005"/>
        </a:xfrm>
        <a:prstGeom prst="ellips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This analysis focuses on the engineering sector, a traditionally male-dominated field.</a:t>
          </a:r>
        </a:p>
      </dsp:txBody>
      <dsp:txXfrm>
        <a:off x="4038551" y="2329981"/>
        <a:ext cx="1138445" cy="1138445"/>
      </dsp:txXfrm>
    </dsp:sp>
    <dsp:sp modelId="{CB7D4180-27FB-4791-8C83-6805111D5BEB}">
      <dsp:nvSpPr>
        <dsp:cNvPr id="0" name=""/>
        <dsp:cNvSpPr/>
      </dsp:nvSpPr>
      <dsp:spPr>
        <a:xfrm rot="10800000">
          <a:off x="3197518" y="2627515"/>
          <a:ext cx="427712" cy="5433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10800000">
        <a:off x="3325832" y="2736190"/>
        <a:ext cx="299398" cy="326026"/>
      </dsp:txXfrm>
    </dsp:sp>
    <dsp:sp modelId="{934B8CF0-A537-4FC6-8443-1ACDF1DE9BD3}">
      <dsp:nvSpPr>
        <dsp:cNvPr id="0" name=""/>
        <dsp:cNvSpPr/>
      </dsp:nvSpPr>
      <dsp:spPr>
        <a:xfrm>
          <a:off x="1385761" y="2094201"/>
          <a:ext cx="1610005" cy="1610005"/>
        </a:xfrm>
        <a:prstGeom prst="ellips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Key focus: similarities, differences, and recommendations for improvement.</a:t>
          </a:r>
        </a:p>
      </dsp:txBody>
      <dsp:txXfrm>
        <a:off x="1621541" y="2329981"/>
        <a:ext cx="1138445" cy="1138445"/>
      </dsp:txXfrm>
    </dsp:sp>
    <dsp:sp modelId="{0A3DFF3E-B4F8-4F23-919B-8BF8451FC542}">
      <dsp:nvSpPr>
        <dsp:cNvPr id="0" name=""/>
        <dsp:cNvSpPr/>
      </dsp:nvSpPr>
      <dsp:spPr>
        <a:xfrm rot="17982224">
          <a:off x="2570085" y="1594177"/>
          <a:ext cx="420347" cy="5433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601894" y="1757619"/>
        <a:ext cx="294243" cy="3260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028E9F-83B5-474E-AF95-EDF74F768404}">
      <dsp:nvSpPr>
        <dsp:cNvPr id="0" name=""/>
        <dsp:cNvSpPr/>
      </dsp:nvSpPr>
      <dsp:spPr>
        <a:xfrm>
          <a:off x="0" y="7248"/>
          <a:ext cx="6798539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Implement mandatory gender pay gap reporting for technical organizations.</a:t>
          </a:r>
        </a:p>
      </dsp:txBody>
      <dsp:txXfrm>
        <a:off x="42722" y="49970"/>
        <a:ext cx="6713095" cy="789716"/>
      </dsp:txXfrm>
    </dsp:sp>
    <dsp:sp modelId="{ABFAC20A-4004-4015-9129-B1B0C8B0BE6B}">
      <dsp:nvSpPr>
        <dsp:cNvPr id="0" name=""/>
        <dsp:cNvSpPr/>
      </dsp:nvSpPr>
      <dsp:spPr>
        <a:xfrm>
          <a:off x="0" y="945768"/>
          <a:ext cx="6798539" cy="87516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Combine with mentorship programs for women in STEM fields.</a:t>
          </a:r>
        </a:p>
      </dsp:txBody>
      <dsp:txXfrm>
        <a:off x="42722" y="988490"/>
        <a:ext cx="6713095" cy="789716"/>
      </dsp:txXfrm>
    </dsp:sp>
    <dsp:sp modelId="{F579FDB9-62F5-49A7-A03C-6610E8616FBF}">
      <dsp:nvSpPr>
        <dsp:cNvPr id="0" name=""/>
        <dsp:cNvSpPr/>
      </dsp:nvSpPr>
      <dsp:spPr>
        <a:xfrm>
          <a:off x="0" y="1884288"/>
          <a:ext cx="6798539" cy="87516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Encourage hiring targets to increase female participation in engineering roles.</a:t>
          </a:r>
        </a:p>
      </dsp:txBody>
      <dsp:txXfrm>
        <a:off x="42722" y="1927010"/>
        <a:ext cx="6713095" cy="789716"/>
      </dsp:txXfrm>
    </dsp:sp>
    <dsp:sp modelId="{EC916360-E2F0-477D-919D-C2E1ED559F70}">
      <dsp:nvSpPr>
        <dsp:cNvPr id="0" name=""/>
        <dsp:cNvSpPr/>
      </dsp:nvSpPr>
      <dsp:spPr>
        <a:xfrm>
          <a:off x="0" y="2822808"/>
          <a:ext cx="6798539" cy="8751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Outcome: A transparent and inclusive workplace fostering gender equality.</a:t>
          </a:r>
        </a:p>
      </dsp:txBody>
      <dsp:txXfrm>
        <a:off x="42722" y="2865530"/>
        <a:ext cx="6713095" cy="789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F6C1-9320-86AA-26A8-F741A4566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E45FD-77D8-6786-0D7B-F0BAB6B3F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70853-0D66-F087-6468-3140A341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FC6E7-0B42-42ED-0DB0-51E81746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03B63-8427-ED17-D5B0-49EF4A86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0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CB74-D2CF-28B8-ACA6-C5F5A0553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7823-C076-968C-8B38-E0D1FF9F4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1136F-ADBE-84B3-DE67-5E8FF43D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5AA71-8094-3FB5-CEF3-68F40829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DF1B-F8AA-8924-C394-8F79B2FF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8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94BE-3F59-0559-E787-C49A1901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9A1C6-5AEA-1160-6CF5-AC8CF24EE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01FAA-4B30-C0D2-42AD-87E6720C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7041-6C88-2D8E-82BA-5FA02C9C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2C21D-D5C3-77B9-B237-AFA5F1EC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6D5B-9EA7-A4CD-E2BA-8FD9ACE9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15AAE-15D9-710F-B71E-83E84F50C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1D9EF-FC28-C0A3-001B-C0C3F1D10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532A0-EC17-8AA6-1DF5-C8A3C911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1F5AB-9E1A-902D-BCBA-F5826198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DC377-CE06-A129-35B4-1F17C525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5C13-B68F-4F9D-053B-410B41EE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F36C3-F3FA-B830-C957-7F412DAD5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E0B26-2D91-C547-ECB5-DE80C17A2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5E178C-87DB-C969-509C-7E8DFCA29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561E4-2FBF-8CE4-FD6F-9516F0F69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FDEF99-2D9E-5149-1EC5-545FFBB6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2D386-0852-743E-976D-BD5B31E4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F082FC-CCAD-E3EE-4D19-566EDDB6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5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D1844-79AB-6023-E1DF-F1EE4CC3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85B35-2CD9-2F96-B0D4-1FA0CC12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98B33-CBAC-CFBA-CB16-725F4931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B3668-EB4C-AE8C-4EA8-B3A7F3A1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2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255F2-5FFA-FF9D-EE54-6F42F12E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EDCB1-84F0-49A0-25F9-C67730C23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70F8B-AA46-5B78-A9BF-318AC771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14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C22D-4EC2-79DA-B019-47026EB6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88F0C-FD56-2D93-BE12-22B1858B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7B6BF-6FBA-D7B5-5872-A12753C3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6A631-2B75-63B0-82E2-C82813B8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2CFA0-A8D6-1C71-0872-DC71B80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FD4C2-6460-D6EF-0E11-639B367D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45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D138-5908-D55F-9B3A-CA626070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F82D5-F90D-080B-A627-0664BDBD8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059D4-5D73-CF7F-B5BD-90EFBA534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A4796-E50C-CFAB-B571-CA57BD3F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386CB-D51C-28C3-FACF-9A601686C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8151B-9655-D7C2-2390-58A32909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1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753F-DF1E-79A0-C180-EB3135AE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AA483-0B38-C2F6-4BD8-9335C7298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872E5-75DA-95ED-9EF8-47C5A53E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744C0-477D-2EEF-5329-E50AEA8E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02B20-E555-2E42-E90F-A4AECD6BC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8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0B1EE-9A96-5753-3E00-A506585D6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A3C2E-4BFD-CC90-58A7-4EA79A308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AAD48-F5EA-439B-34B8-94D9684A1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2048-BC1E-C80B-6855-32C6E5CF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ABE13-2FB0-5E8F-06EF-CE98E1B7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9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0CBB1-229E-4E88-2110-496031B5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995B9-E8F8-E3A7-2BBE-392DD50F2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C0C0-0157-23D0-8554-0CEF1C8C9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0B4E5-7FC3-4C11-B419-D48B6DDD7F5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336E8-D465-0DBA-9CC7-A05DFC1FF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CE4CB-61F4-5921-E6C9-9C5557360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A1CD6-13A9-48A4-BABF-78434934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7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mom.gov.sg/Pages/Update-on-Singapores-Adjusted-Gender-Pay-Gap.aspx" TargetMode="External"/><Relationship Id="rId2" Type="http://schemas.openxmlformats.org/officeDocument/2006/relationships/hyperlink" Target="https://stats.mom.gov.sg/Pages/a-gender-inclusive-workforce.asp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A13CD-8E0A-40BB-68CC-8DEABFFEE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Gender Equality in the Workplace: Singapore vs. England	</a:t>
            </a:r>
            <a:br>
              <a:rPr lang="en-US" sz="4400" dirty="0"/>
            </a:br>
            <a:r>
              <a:rPr lang="en-US" sz="4400" dirty="0"/>
              <a:t>(Engineering)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410D94-F17B-605E-B9C2-E39ECD24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/>
              <a:t>Benjamin</a:t>
            </a:r>
          </a:p>
        </p:txBody>
      </p:sp>
      <p:pic>
        <p:nvPicPr>
          <p:cNvPr id="5" name="Picture 4" descr="Cutout symbol of transgender">
            <a:extLst>
              <a:ext uri="{FF2B5EF4-FFF2-40B4-BE49-F238E27FC236}">
                <a16:creationId xmlns:a16="http://schemas.microsoft.com/office/drawing/2014/main" id="{18F18460-CCE5-8015-F9DE-C0AB5EB90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82" r="20980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960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Introduction &amp; Focus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E41F8F-0F70-7562-4283-D50F5B26D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27" r="25627" b="-1"/>
          <a:stretch/>
        </p:blipFill>
        <p:spPr>
          <a:xfrm>
            <a:off x="6023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5CC200-6BC1-AA1D-F473-824A3CD1BC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036231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2" descr="Cole Palmer | Profile | Official Site | Chelsea Football Club">
            <a:extLst>
              <a:ext uri="{FF2B5EF4-FFF2-40B4-BE49-F238E27FC236}">
                <a16:creationId xmlns:a16="http://schemas.microsoft.com/office/drawing/2014/main" id="{8A5C6780-99EC-ADE4-DED5-D01E5B653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981" y="5887370"/>
            <a:ext cx="1976075" cy="296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81510-300D-0DC3-A408-57E57BAE7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Similarities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D0F0F-50A7-D7BF-9DDD-DEF810A4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400" b="1" dirty="0"/>
              <a:t>Focus on Gender Pay Gap Reduction</a:t>
            </a:r>
            <a:r>
              <a:rPr lang="en-US" sz="1400" dirty="0"/>
              <a:t>: Both countries aim to close the gender pay gap in male-dominated fields like engineering. Singapore has reduced its adjusted gender pay gap to 6%, significantly lower than the unadjusted 14.3% observed in 2023​. Similarly, the UK has implemented mandatory gender pay gap reporting for companies, increasing transparency and accountability​.</a:t>
            </a:r>
          </a:p>
          <a:p>
            <a:endParaRPr lang="en-US" sz="1400" dirty="0"/>
          </a:p>
          <a:p>
            <a:r>
              <a:rPr lang="en-US" sz="1400" b="1" dirty="0"/>
              <a:t>Promoting Female Participation</a:t>
            </a:r>
            <a:r>
              <a:rPr lang="en-US" sz="1400" dirty="0"/>
              <a:t>: Both nations have programs encouraging women to enter and remain in engineering. Singapore has initiatives such as flexible working arrangements to help women balance career and family commitments​. England focuses on STEM outreach programs and diversity targets for engineering roles.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035325E4-BA61-8D86-B3C8-34AED0EA6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2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AADF1-D9FB-4DA8-4CEF-A0DD0E9D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Differences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DFCD5-02C6-7404-13C9-96DB2506D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1700" b="1" dirty="0"/>
              <a:t>Representation in Leadership</a:t>
            </a:r>
            <a:r>
              <a:rPr lang="en-US" sz="1700" dirty="0"/>
              <a:t>: In Singapore, women comprise only 17.6% of board positions in the top 100 companies​. In contrast, the UK has surpassed its 30% target for women on FTSE 100 boards, but representation in technical leadership within engineering remains low​.</a:t>
            </a:r>
          </a:p>
          <a:p>
            <a:endParaRPr lang="en-US" sz="1700" dirty="0"/>
          </a:p>
          <a:p>
            <a:pPr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Cultural and Societal Expectations</a:t>
            </a:r>
            <a:r>
              <a:rPr lang="en-US" sz="1700" dirty="0"/>
              <a:t>: Singaporean women face societal pressures to fulfill caregiving roles, affecting their career growth​. In England, while similar challenges exist, policies like shared parental leave and subsidized childcare aim to mitigate these barriers.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12942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16A36-A94D-4DD3-39D5-03B068DC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Observations</a:t>
            </a:r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2D6CF5B4-CFA1-8CBA-4C1D-6B0283A58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17" r="28084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EA506-AF27-1453-4457-61F645855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• Both countries have made progress in addressing gender inequality, but challenges persist.</a:t>
            </a:r>
          </a:p>
          <a:p>
            <a:pPr marL="0" indent="0">
              <a:buNone/>
            </a:pPr>
            <a:r>
              <a:rPr lang="en-US" sz="2000" dirty="0"/>
              <a:t>• Singapore's narrowed gender pay gap highlights improvement but lacks mandatory reporting policies.</a:t>
            </a:r>
          </a:p>
          <a:p>
            <a:pPr marL="0" indent="0">
              <a:buNone/>
            </a:pPr>
            <a:r>
              <a:rPr lang="en-US" sz="2000" dirty="0"/>
              <a:t>• England's focus on flexibility and outreach programs offers valuable lessons for Singapore.</a:t>
            </a:r>
          </a:p>
          <a:p>
            <a:pPr marL="0" indent="0">
              <a:buNone/>
            </a:pPr>
            <a:r>
              <a:rPr lang="en-US" sz="2000" dirty="0"/>
              <a:t>• Addressing societal expectations and leadership representation remains critical for both countries.	</a:t>
            </a:r>
          </a:p>
        </p:txBody>
      </p:sp>
    </p:spTree>
    <p:extLst>
      <p:ext uri="{BB962C8B-B14F-4D97-AF65-F5344CB8AC3E}">
        <p14:creationId xmlns:p14="http://schemas.microsoft.com/office/powerpoint/2010/main" val="143113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Recommendation for Singapore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C94DF-EE78-7A9B-966B-B5E68ECF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1" r="54723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ACE3B7-4D47-D0D6-B162-ED8DD860FC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728322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44D5-9495-DDF4-ADAA-4058FF42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0CC8F-5771-8136-E597-08EBED494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Ministry of Manpower (2021). </a:t>
            </a:r>
            <a:r>
              <a:rPr lang="en-US" i="1" dirty="0"/>
              <a:t>A Gender-Inclusive Workforce</a:t>
            </a:r>
            <a:r>
              <a:rPr lang="en-US" dirty="0"/>
              <a:t>. Retrieved from </a:t>
            </a:r>
            <a:r>
              <a:rPr lang="en-US" dirty="0">
                <a:hlinkClick r:id="rId2"/>
              </a:rPr>
              <a:t>https://stats.mom.gov.sg/Pages/a-gender-inclusive-workforce.aspx</a:t>
            </a:r>
            <a:endParaRPr lang="en-US" dirty="0"/>
          </a:p>
          <a:p>
            <a:endParaRPr lang="en-US" dirty="0"/>
          </a:p>
          <a:p>
            <a:r>
              <a:rPr lang="en-US" dirty="0"/>
              <a:t>Ministry of Manpower (2024). </a:t>
            </a:r>
            <a:r>
              <a:rPr lang="en-US" i="1" dirty="0"/>
              <a:t>Update on Singapore’s Adjusted Gender Pay Gap</a:t>
            </a:r>
            <a:r>
              <a:rPr lang="en-US" dirty="0"/>
              <a:t>. Retrieved from </a:t>
            </a:r>
            <a:r>
              <a:rPr lang="en-US" dirty="0">
                <a:hlinkClick r:id="rId3"/>
              </a:rPr>
              <a:t>https://stats.mom.gov.sg/Pages/Update-on-Singapores-Adjusted-Gender-Pay-Gap.aspx</a:t>
            </a:r>
            <a:endParaRPr lang="en-US" dirty="0"/>
          </a:p>
          <a:p>
            <a:endParaRPr lang="en-US" dirty="0"/>
          </a:p>
          <a:p>
            <a:r>
              <a:rPr lang="en-US" dirty="0"/>
              <a:t>UK Government Equalities Office (2023). </a:t>
            </a:r>
            <a:r>
              <a:rPr lang="en-US" i="1" dirty="0"/>
              <a:t>Gender Pay Gap Reporting in the UK</a:t>
            </a:r>
            <a:r>
              <a:rPr lang="en-US" dirty="0"/>
              <a:t>. Retrieved from https://www.gov.uk/genderpaygap</a:t>
            </a:r>
          </a:p>
        </p:txBody>
      </p:sp>
    </p:spTree>
    <p:extLst>
      <p:ext uri="{BB962C8B-B14F-4D97-AF65-F5344CB8AC3E}">
        <p14:creationId xmlns:p14="http://schemas.microsoft.com/office/powerpoint/2010/main" val="1652695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2975</TotalTime>
  <Words>462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Gender Equality in the Workplace: Singapore vs. England  (Engineering)</vt:lpstr>
      <vt:lpstr>Introduction &amp; Focus</vt:lpstr>
      <vt:lpstr>Similarities</vt:lpstr>
      <vt:lpstr>Differences</vt:lpstr>
      <vt:lpstr>Observations</vt:lpstr>
      <vt:lpstr>Recommendation for Singapore</vt:lpstr>
      <vt:lpstr>APA 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Yew</dc:creator>
  <cp:lastModifiedBy>Benjamin Yew</cp:lastModifiedBy>
  <cp:revision>2</cp:revision>
  <dcterms:created xsi:type="dcterms:W3CDTF">2024-11-19T04:51:47Z</dcterms:created>
  <dcterms:modified xsi:type="dcterms:W3CDTF">2024-11-22T05:54:41Z</dcterms:modified>
</cp:coreProperties>
</file>